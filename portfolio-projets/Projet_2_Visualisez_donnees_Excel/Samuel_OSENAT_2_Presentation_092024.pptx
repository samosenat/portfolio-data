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3" r:id="rId4"/>
    <p:sldId id="258" r:id="rId5"/>
    <p:sldId id="259" r:id="rId6"/>
    <p:sldId id="269" r:id="rId7"/>
    <p:sldId id="264" r:id="rId8"/>
    <p:sldId id="266" r:id="rId9"/>
    <p:sldId id="265" r:id="rId10"/>
    <p:sldId id="267" r:id="rId11"/>
    <p:sldId id="260" r:id="rId12"/>
    <p:sldId id="268" r:id="rId13"/>
    <p:sldId id="261" r:id="rId14"/>
    <p:sldId id="262" r:id="rId15"/>
  </p:sldIdLst>
  <p:sldSz cx="9144000" cy="5143500" type="screen16x9"/>
  <p:notesSz cx="6858000" cy="9144000"/>
  <p:embeddedFontLst>
    <p:embeddedFont>
      <p:font typeface="Maven Pro" pitchFamily="2" charset="77"/>
      <p:regular r:id="rId17"/>
      <p:bold r:id="rId18"/>
    </p:embeddedFont>
    <p:embeddedFont>
      <p:font typeface="Montserrat Light" pitchFamily="2" charset="77"/>
      <p:regular r:id="rId19"/>
    </p:embeddedFont>
    <p:embeddedFont>
      <p:font typeface="Nunito" pitchFamily="2" charset="77"/>
      <p:regular r:id="rId20"/>
      <p:bold r:id="rId21"/>
      <p:italic r:id="rId22"/>
      <p:boldItalic r:id="rId23"/>
    </p:embeddedFont>
    <p:embeddedFont>
      <p:font typeface="Titillium Web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PQChcynK0uSiMmFn/cMlX7yPp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 varScale="1">
        <p:scale>
          <a:sx n="120" d="100"/>
          <a:sy n="120" d="100"/>
        </p:scale>
        <p:origin x="200" y="5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C319EEEE-3185-1469-FA91-C0BCB618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CA53A9BF-05B4-26E0-CC0C-63B31479D9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363D54A8-F153-FB6C-6BD4-C2C694118E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1478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736115A4-DCD9-6297-6B73-2289816C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>
            <a:extLst>
              <a:ext uri="{FF2B5EF4-FFF2-40B4-BE49-F238E27FC236}">
                <a16:creationId xmlns:a16="http://schemas.microsoft.com/office/drawing/2014/main" id="{F05A3B5F-FE7C-556D-934C-FCC91FCEBD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4:notes">
            <a:extLst>
              <a:ext uri="{FF2B5EF4-FFF2-40B4-BE49-F238E27FC236}">
                <a16:creationId xmlns:a16="http://schemas.microsoft.com/office/drawing/2014/main" id="{52F18B7E-6D21-225F-9BA7-7BB84190C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780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A7E1E89F-5358-1E7D-3F26-9754605E8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>
            <a:extLst>
              <a:ext uri="{FF2B5EF4-FFF2-40B4-BE49-F238E27FC236}">
                <a16:creationId xmlns:a16="http://schemas.microsoft.com/office/drawing/2014/main" id="{DD51458D-70E2-D9C3-9928-B13032AD96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4:notes">
            <a:extLst>
              <a:ext uri="{FF2B5EF4-FFF2-40B4-BE49-F238E27FC236}">
                <a16:creationId xmlns:a16="http://schemas.microsoft.com/office/drawing/2014/main" id="{ED62181E-464D-74C1-24A1-F4FA272B3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0110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835322F3-5BAC-9FBE-82BB-0F3E35E6E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>
            <a:extLst>
              <a:ext uri="{FF2B5EF4-FFF2-40B4-BE49-F238E27FC236}">
                <a16:creationId xmlns:a16="http://schemas.microsoft.com/office/drawing/2014/main" id="{06585085-3C5F-AEDC-A829-F43BB12258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4:notes">
            <a:extLst>
              <a:ext uri="{FF2B5EF4-FFF2-40B4-BE49-F238E27FC236}">
                <a16:creationId xmlns:a16="http://schemas.microsoft.com/office/drawing/2014/main" id="{DA4A2744-7A39-2291-8216-708418742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4017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D3C553A-F0DC-5D7A-7800-DC7C4498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>
            <a:extLst>
              <a:ext uri="{FF2B5EF4-FFF2-40B4-BE49-F238E27FC236}">
                <a16:creationId xmlns:a16="http://schemas.microsoft.com/office/drawing/2014/main" id="{81520FA5-F709-BB02-7F04-A4C6476696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4:notes">
            <a:extLst>
              <a:ext uri="{FF2B5EF4-FFF2-40B4-BE49-F238E27FC236}">
                <a16:creationId xmlns:a16="http://schemas.microsoft.com/office/drawing/2014/main" id="{0A9141B6-59D9-78E4-045B-116C20444E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905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5CCD9BD9-D961-EB2B-4722-B23AF7A28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>
            <a:extLst>
              <a:ext uri="{FF2B5EF4-FFF2-40B4-BE49-F238E27FC236}">
                <a16:creationId xmlns:a16="http://schemas.microsoft.com/office/drawing/2014/main" id="{D6FF7DD8-317F-5556-668D-3418EE8F9B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5:notes">
            <a:extLst>
              <a:ext uri="{FF2B5EF4-FFF2-40B4-BE49-F238E27FC236}">
                <a16:creationId xmlns:a16="http://schemas.microsoft.com/office/drawing/2014/main" id="{1C022C6A-0420-2018-F26B-A5B1C5831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8489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E0E4A33B-CEF6-6DFD-C096-4544D0212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>
            <a:extLst>
              <a:ext uri="{FF2B5EF4-FFF2-40B4-BE49-F238E27FC236}">
                <a16:creationId xmlns:a16="http://schemas.microsoft.com/office/drawing/2014/main" id="{89401C07-731D-97EC-682A-2FCA77171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5:notes">
            <a:extLst>
              <a:ext uri="{FF2B5EF4-FFF2-40B4-BE49-F238E27FC236}">
                <a16:creationId xmlns:a16="http://schemas.microsoft.com/office/drawing/2014/main" id="{8FC6E03E-7390-2821-097C-744538D30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4464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9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1" name="Google Shape;11;p9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2" name="Google Shape;12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" name="Google Shape;15;p9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6" name="Google Shape;16;p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" name="Google Shape;19;p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20" name="Google Shape;20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1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6" name="Google Shape;26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33" name="Google Shape;3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34" name="Google Shape;3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" name="Google Shape;3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39" name="Google Shape;3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" name="Google Shape;4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45" name="Google Shape;4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50" name="Google Shape;5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" name="Google Shape;5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54" name="Google Shape;5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" name="Google Shape;5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60" name="Google Shape;6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" name="Google Shape;6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65" name="Google Shape;6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69" name="Google Shape;6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7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75" name="Google Shape;7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7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80" name="Google Shape;8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8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85" name="Google Shape;8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8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89" name="Google Shape;8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94" name="Google Shape;9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oogle Shape;9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99" name="Google Shape;9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" name="Google Shape;10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105" name="Google Shape;10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" name="Google Shape;10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110" name="Google Shape;11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114" name="Google Shape;11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119" name="Google Shape;11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125" name="Google Shape;12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" name="Google Shape;12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130" name="Google Shape;13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134" name="Google Shape;13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" name="Google Shape;13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140" name="Google Shape;14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" name="Google Shape;14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145" name="Google Shape;14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150" name="Google Shape;15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154" name="Google Shape;15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63" name="Google Shape;163;p12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64" name="Google Shape;164;p1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p1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67" name="Google Shape;167;p1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1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71" name="Google Shape;171;p1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" name="Google Shape;175;p1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176" name="Google Shape;176;p1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1" name="Google Shape;181;p1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182" name="Google Shape;182;p1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4" name="Google Shape;184;p1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185" name="Google Shape;185;p1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" name="Google Shape;188;p1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" name="Google Shape;189;p1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190" name="Google Shape;190;p1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" name="Google Shape;192;p1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1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1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3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203" name="Google Shape;203;p1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04" name="Google Shape;204;p1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1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07" name="Google Shape;207;p1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1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11" name="Google Shape;211;p1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5" name="Google Shape;215;p13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216" name="Google Shape;216;p1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17" name="Google Shape;217;p1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1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20" name="Google Shape;220;p1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1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24" name="Google Shape;224;p1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1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29" name="Google Shape;229;p1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4" name="Google Shape;234;p1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38" name="Google Shape;238;p1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1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2" name="Google Shape;242;p14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3" name="Google Shape;243;p1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46" name="Google Shape;246;p1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" name="Google Shape;248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1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52" name="Google Shape;252;p1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6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59" name="Google Shape;259;p1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1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8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267" name="Google Shape;267;p1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9" name="Google Shape;269;p18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/>
        </p:nvSpPr>
        <p:spPr>
          <a:xfrm>
            <a:off x="818000" y="2171550"/>
            <a:ext cx="56925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-FR" sz="4000" b="0" i="0" u="none" strike="noStrike" cap="none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Rapport d’analyse </a:t>
            </a:r>
            <a:r>
              <a:rPr lang="fr-FR" sz="4000" b="0" i="0" u="none" strike="noStrike" cap="none" dirty="0" err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Primero</a:t>
            </a:r>
            <a:r>
              <a:rPr lang="fr-FR" sz="4000" b="0" i="0" u="none" strike="noStrike" cap="none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Bank</a:t>
            </a:r>
            <a:endParaRPr sz="40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b="1" dirty="0"/>
              <a:t>Les enjeux de </a:t>
            </a:r>
            <a:r>
              <a:rPr lang="fr-FR" b="1" dirty="0" err="1"/>
              <a:t>Primero</a:t>
            </a:r>
            <a:r>
              <a:rPr lang="fr-FR" b="1" dirty="0"/>
              <a:t> Bank </a:t>
            </a:r>
            <a:br>
              <a:rPr lang="fr-FR" b="1" dirty="0"/>
            </a:br>
            <a:endParaRPr dirty="0"/>
          </a:p>
        </p:txBody>
      </p:sp>
      <p:sp>
        <p:nvSpPr>
          <p:cNvPr id="283" name="Google Shape;283;p2"/>
          <p:cNvSpPr txBox="1">
            <a:spLocks noGrp="1"/>
          </p:cNvSpPr>
          <p:nvPr>
            <p:ph type="body" idx="1"/>
          </p:nvPr>
        </p:nvSpPr>
        <p:spPr>
          <a:xfrm>
            <a:off x="1056750" y="1410628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fr-FR" b="1" dirty="0"/>
              <a:t>Les enjeux de </a:t>
            </a:r>
            <a:r>
              <a:rPr lang="fr-FR" b="1" dirty="0" err="1"/>
              <a:t>Primero</a:t>
            </a:r>
            <a:r>
              <a:rPr lang="fr-FR" b="1" dirty="0"/>
              <a:t> Bank :</a:t>
            </a:r>
          </a:p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Wingdings" pitchFamily="2" charset="2"/>
              <a:buChar char="Ø"/>
            </a:pPr>
            <a:r>
              <a:rPr lang="fr-FR" dirty="0"/>
              <a:t>Comprendre la vague de départs chez certains clients de </a:t>
            </a:r>
            <a:r>
              <a:rPr lang="fr-FR" dirty="0" err="1"/>
              <a:t>Primero</a:t>
            </a:r>
            <a:r>
              <a:rPr lang="fr-FR" dirty="0"/>
              <a:t> Bank</a:t>
            </a:r>
          </a:p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Wingdings" pitchFamily="2" charset="2"/>
              <a:buChar char="Ø"/>
            </a:pPr>
            <a:r>
              <a:rPr lang="fr-FR" dirty="0"/>
              <a:t>Volonté de limiter ce phénomène</a:t>
            </a:r>
          </a:p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Wingdings" pitchFamily="2" charset="2"/>
              <a:buChar char="Ø"/>
            </a:pPr>
            <a:r>
              <a:rPr lang="fr-FR" dirty="0"/>
              <a:t>Besoin d’identifier les facteurs propices au départ afin de mener des actions correctives.</a:t>
            </a:r>
          </a:p>
          <a:p>
            <a:pPr marL="14605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endParaRPr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endParaRPr lang="fr-FR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E98739E4-BCAA-677F-F9C8-DED25E64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E6620A0D-B38D-4107-2ABC-E5620F7581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dirty="0"/>
              <a:t>Nos objectifs</a:t>
            </a:r>
            <a:endParaRPr dirty="0"/>
          </a:p>
        </p:txBody>
      </p:sp>
      <p:sp>
        <p:nvSpPr>
          <p:cNvPr id="283" name="Google Shape;283;p2">
            <a:extLst>
              <a:ext uri="{FF2B5EF4-FFF2-40B4-BE49-F238E27FC236}">
                <a16:creationId xmlns:a16="http://schemas.microsoft.com/office/drawing/2014/main" id="{3B794F0B-1F26-FBBD-5354-F28BACA4B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56750" y="1410628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Wingdings" pitchFamily="2" charset="2"/>
              <a:buChar char="Ø"/>
            </a:pPr>
            <a:r>
              <a:rPr lang="fr-FR" dirty="0"/>
              <a:t>Identifier le profil type des clients partants</a:t>
            </a:r>
          </a:p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Wingdings" pitchFamily="2" charset="2"/>
              <a:buChar char="Ø"/>
            </a:pPr>
            <a:r>
              <a:rPr lang="fr-FR" dirty="0"/>
              <a:t>Quelles sont leurs raisons de partir ?</a:t>
            </a:r>
          </a:p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Wingdings" pitchFamily="2" charset="2"/>
              <a:buChar char="Ø"/>
            </a:pPr>
            <a:r>
              <a:rPr lang="fr-FR" dirty="0"/>
              <a:t>Méthodologie et identifications des clients à risque</a:t>
            </a:r>
            <a:endParaRPr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endParaRPr lang="fr-FR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9877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AC459940-88DF-5D74-4AF8-86D24B849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627" y="1232824"/>
            <a:ext cx="4865236" cy="3765819"/>
          </a:xfrm>
          <a:prstGeom prst="rect">
            <a:avLst/>
          </a:prstGeom>
        </p:spPr>
      </p:pic>
      <p:sp>
        <p:nvSpPr>
          <p:cNvPr id="288" name="Google Shape;288;p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-FR" dirty="0"/>
              <a:t>Influence du type de carte sur le statut du client</a:t>
            </a:r>
            <a:br>
              <a:rPr lang="fr-FR" dirty="0"/>
            </a:br>
            <a:br>
              <a:rPr lang="fr-FR" dirty="0"/>
            </a:br>
            <a:endParaRPr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1414"/>
              <a:buNone/>
            </a:pPr>
            <a:r>
              <a:rPr lang="fr-FR" sz="2200" dirty="0"/>
              <a:t>Le montant de crédit renouvelé chez les clients actuels et perdus est un indicateur de fidélité</a:t>
            </a:r>
            <a:br>
              <a:rPr lang="fr-FR" dirty="0"/>
            </a:br>
            <a:endParaRPr b="0" dirty="0"/>
          </a:p>
        </p:txBody>
      </p:sp>
      <p:pic>
        <p:nvPicPr>
          <p:cNvPr id="3" name="Image 2" descr="Une image contenant texte, capture d’écran, logiciel, Système d’exploitation&#10;&#10;Description générée automatiquement">
            <a:extLst>
              <a:ext uri="{FF2B5EF4-FFF2-40B4-BE49-F238E27FC236}">
                <a16:creationId xmlns:a16="http://schemas.microsoft.com/office/drawing/2014/main" id="{96036F5B-9774-6C6B-B112-DDF13D9E7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300" y="1377950"/>
            <a:ext cx="45974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CA390E17-AD5A-6448-F0DB-37C864BB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">
            <a:extLst>
              <a:ext uri="{FF2B5EF4-FFF2-40B4-BE49-F238E27FC236}">
                <a16:creationId xmlns:a16="http://schemas.microsoft.com/office/drawing/2014/main" id="{A457CC0F-6B51-EB26-A0D8-CCB1C6B8B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1414"/>
              <a:buNone/>
            </a:pPr>
            <a:r>
              <a:rPr lang="fr-FR" sz="2200" dirty="0"/>
              <a:t>La tranche de revenu semble être un facteur de départ</a:t>
            </a:r>
            <a:br>
              <a:rPr lang="fr-FR" dirty="0"/>
            </a:br>
            <a:endParaRPr b="0" dirty="0"/>
          </a:p>
        </p:txBody>
      </p:sp>
      <p:pic>
        <p:nvPicPr>
          <p:cNvPr id="4" name="Image 3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08B397F6-3310-8E43-C2BC-6C4C8BE84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050" y="1372077"/>
            <a:ext cx="42799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48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F02B44CE-273D-4548-5035-6DCF8205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">
            <a:extLst>
              <a:ext uri="{FF2B5EF4-FFF2-40B4-BE49-F238E27FC236}">
                <a16:creationId xmlns:a16="http://schemas.microsoft.com/office/drawing/2014/main" id="{DAA55983-5F4F-2AD5-9524-F70502FF78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1414"/>
              <a:buNone/>
            </a:pPr>
            <a:r>
              <a:rPr lang="fr-FR" sz="2200" dirty="0"/>
              <a:t>Le statut marital des clients est un facteur majeur de départ</a:t>
            </a:r>
            <a:br>
              <a:rPr lang="fr-FR" dirty="0"/>
            </a:br>
            <a:br>
              <a:rPr lang="fr-FR" dirty="0"/>
            </a:br>
            <a:endParaRPr b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B4D180E-F44D-501B-1923-1595EEDB1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450" y="1597875"/>
            <a:ext cx="54991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22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5B29831A-D5F2-3EBC-059A-337010168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">
            <a:extLst>
              <a:ext uri="{FF2B5EF4-FFF2-40B4-BE49-F238E27FC236}">
                <a16:creationId xmlns:a16="http://schemas.microsoft.com/office/drawing/2014/main" id="{E114B363-2EA6-5A9B-962D-71AD6D0023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1414"/>
              <a:buNone/>
            </a:pPr>
            <a:r>
              <a:rPr lang="fr-FR" sz="2200" dirty="0"/>
              <a:t>L’utilisation moyenne de la carte est plus faible chez les clients qui partent</a:t>
            </a:r>
            <a:br>
              <a:rPr lang="fr-FR" dirty="0"/>
            </a:br>
            <a:br>
              <a:rPr lang="fr-FR" dirty="0"/>
            </a:br>
            <a:endParaRPr b="0" dirty="0"/>
          </a:p>
        </p:txBody>
      </p:sp>
      <p:pic>
        <p:nvPicPr>
          <p:cNvPr id="3" name="Image 2" descr="Une image contenant texte, capture d’écran, Police, logiciel&#10;&#10;Description générée automatiquement">
            <a:extLst>
              <a:ext uri="{FF2B5EF4-FFF2-40B4-BE49-F238E27FC236}">
                <a16:creationId xmlns:a16="http://schemas.microsoft.com/office/drawing/2014/main" id="{198F70D9-94AC-1D7F-BDB7-6AE9CEA13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300" y="1597875"/>
            <a:ext cx="45974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70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89216AF6-8A01-2223-84A3-8A927F31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">
            <a:extLst>
              <a:ext uri="{FF2B5EF4-FFF2-40B4-BE49-F238E27FC236}">
                <a16:creationId xmlns:a16="http://schemas.microsoft.com/office/drawing/2014/main" id="{B1F50798-621E-7E09-CE3B-39383D6DF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1414"/>
              <a:buNone/>
            </a:pPr>
            <a:r>
              <a:rPr lang="fr-FR" sz="2200" dirty="0"/>
              <a:t>Beaucoup d’</a:t>
            </a:r>
            <a:r>
              <a:rPr lang="fr-FR" sz="2200" dirty="0" err="1"/>
              <a:t>intéraction</a:t>
            </a:r>
            <a:r>
              <a:rPr lang="fr-FR" sz="2200" dirty="0"/>
              <a:t> avec la banque est mauvais signe</a:t>
            </a:r>
            <a:br>
              <a:rPr lang="fr-FR" dirty="0"/>
            </a:br>
            <a:br>
              <a:rPr lang="fr-FR" dirty="0"/>
            </a:br>
            <a:endParaRPr b="0" dirty="0"/>
          </a:p>
        </p:txBody>
      </p:sp>
      <p:pic>
        <p:nvPicPr>
          <p:cNvPr id="3" name="Image 2" descr="Une image contenant texte, capture d’écran, Police, logiciel&#10;&#10;Description générée automatiquement">
            <a:extLst>
              <a:ext uri="{FF2B5EF4-FFF2-40B4-BE49-F238E27FC236}">
                <a16:creationId xmlns:a16="http://schemas.microsoft.com/office/drawing/2014/main" id="{5B15F86A-8557-3355-CBED-66908EC9F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801" y="1495447"/>
            <a:ext cx="3116397" cy="210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5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DE612F59-9C91-846F-EBDA-CE033F700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">
            <a:extLst>
              <a:ext uri="{FF2B5EF4-FFF2-40B4-BE49-F238E27FC236}">
                <a16:creationId xmlns:a16="http://schemas.microsoft.com/office/drawing/2014/main" id="{FF2C9480-67EB-31C6-3F04-C9E7D50B0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-FR" dirty="0"/>
              <a:t>Trois hypothèses ressortent sur la raison des départs</a:t>
            </a:r>
            <a:br>
              <a:rPr lang="fr-FR" dirty="0"/>
            </a:br>
            <a:endParaRPr b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4BB5510-BFE2-0FD4-E34E-906D9E56A485}"/>
              </a:ext>
            </a:extLst>
          </p:cNvPr>
          <p:cNvSpPr txBox="1"/>
          <p:nvPr/>
        </p:nvSpPr>
        <p:spPr>
          <a:xfrm>
            <a:off x="915074" y="1954811"/>
            <a:ext cx="55309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 Light" pitchFamily="2" charset="77"/>
              </a:rPr>
              <a:t>1. Clients peu engagés par l’offre, ils souscrivent de façon opportuniste et partent après avoir eu leur prêt.</a:t>
            </a:r>
          </a:p>
          <a:p>
            <a:endParaRPr lang="fr-FR" dirty="0">
              <a:latin typeface="Montserrat Light" pitchFamily="2" charset="77"/>
            </a:endParaRPr>
          </a:p>
          <a:p>
            <a:r>
              <a:rPr lang="fr-FR" dirty="0">
                <a:latin typeface="Montserrat Light" pitchFamily="2" charset="77"/>
              </a:rPr>
              <a:t>2. Clients ne sont pas satisfaits par la qualité de service.</a:t>
            </a:r>
          </a:p>
          <a:p>
            <a:endParaRPr lang="fr-FR" dirty="0">
              <a:latin typeface="Montserrat Light" pitchFamily="2" charset="77"/>
            </a:endParaRPr>
          </a:p>
          <a:p>
            <a:r>
              <a:rPr lang="fr-FR" dirty="0">
                <a:latin typeface="Montserrat Light" pitchFamily="2" charset="77"/>
              </a:rPr>
              <a:t>3. L’offre et la qualité de service pour le service Platinium sont à améliorer.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846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-FR" dirty="0"/>
              <a:t>Calcul des clients à risques</a:t>
            </a:r>
            <a:br>
              <a:rPr lang="fr-FR" dirty="0"/>
            </a:br>
            <a:r>
              <a:rPr lang="fr-FR" sz="2000" b="0" dirty="0"/>
              <a:t>Méthodologie pour l’hypothèse numéro 1 et 2</a:t>
            </a:r>
            <a:br>
              <a:rPr lang="fr-FR" dirty="0"/>
            </a:br>
            <a:endParaRPr b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8903F0D-E4E0-A918-5364-ABC4F7BFB58E}"/>
              </a:ext>
            </a:extLst>
          </p:cNvPr>
          <p:cNvSpPr txBox="1"/>
          <p:nvPr/>
        </p:nvSpPr>
        <p:spPr>
          <a:xfrm>
            <a:off x="915074" y="1945758"/>
            <a:ext cx="49199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 Light" pitchFamily="2" charset="77"/>
              </a:rPr>
              <a:t>Filtrage des données selon plusieurs critères :</a:t>
            </a:r>
          </a:p>
          <a:p>
            <a:pPr marL="285750" indent="-285750">
              <a:buFontTx/>
              <a:buChar char="-"/>
            </a:pPr>
            <a:endParaRPr lang="fr-FR" dirty="0">
              <a:latin typeface="Montserrat Light" pitchFamily="2" charset="77"/>
            </a:endParaRPr>
          </a:p>
          <a:p>
            <a:pPr marL="285750" indent="-285750">
              <a:buFontTx/>
              <a:buChar char="-"/>
            </a:pPr>
            <a:r>
              <a:rPr lang="fr-FR" dirty="0">
                <a:latin typeface="Montserrat Light" pitchFamily="2" charset="77"/>
              </a:rPr>
              <a:t>Statut marital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Montserrat Light" pitchFamily="2" charset="77"/>
              </a:rPr>
              <a:t>Tranche de revenu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Montserrat Light" pitchFamily="2" charset="77"/>
              </a:rPr>
              <a:t>Utilisation moyenne de la carte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Montserrat Light" pitchFamily="2" charset="77"/>
              </a:rPr>
              <a:t>Montant de crédit renouvelé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Montserrat Light" pitchFamily="2" charset="77"/>
              </a:rPr>
              <a:t>Nombre d’</a:t>
            </a:r>
            <a:r>
              <a:rPr lang="fr-FR" dirty="0" err="1">
                <a:latin typeface="Montserrat Light" pitchFamily="2" charset="77"/>
              </a:rPr>
              <a:t>intéraction</a:t>
            </a:r>
            <a:r>
              <a:rPr lang="fr-FR" dirty="0">
                <a:latin typeface="Montserrat Light" pitchFamily="2" charset="77"/>
              </a:rPr>
              <a:t> avec la banque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B5B8491-E1B7-555D-C85F-80B9A51A9B5A}"/>
              </a:ext>
            </a:extLst>
          </p:cNvPr>
          <p:cNvSpPr txBox="1"/>
          <p:nvPr/>
        </p:nvSpPr>
        <p:spPr>
          <a:xfrm>
            <a:off x="915074" y="3894079"/>
            <a:ext cx="6464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 Light" pitchFamily="2" charset="77"/>
              </a:rPr>
              <a:t>Pour l’hypothèse numéro 3, nous allons filtrer les données en fonction du type de carte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C6805AA7-71B7-6E26-1682-E4580904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">
            <a:extLst>
              <a:ext uri="{FF2B5EF4-FFF2-40B4-BE49-F238E27FC236}">
                <a16:creationId xmlns:a16="http://schemas.microsoft.com/office/drawing/2014/main" id="{845B7B43-2430-EC72-F3EA-21FF786A53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-FR" dirty="0"/>
              <a:t>Calcul des clients à risques</a:t>
            </a:r>
            <a:br>
              <a:rPr lang="fr-FR" dirty="0"/>
            </a:br>
            <a:r>
              <a:rPr lang="fr-FR" sz="2000" b="0" dirty="0"/>
              <a:t>Résultats</a:t>
            </a:r>
            <a:br>
              <a:rPr lang="fr-FR" dirty="0"/>
            </a:br>
            <a:endParaRPr b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A6C7F68-4F06-DACD-651D-534F03A41A89}"/>
              </a:ext>
            </a:extLst>
          </p:cNvPr>
          <p:cNvSpPr txBox="1"/>
          <p:nvPr/>
        </p:nvSpPr>
        <p:spPr>
          <a:xfrm>
            <a:off x="925707" y="1597875"/>
            <a:ext cx="4919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 Light" pitchFamily="2" charset="77"/>
              </a:rPr>
              <a:t>212 </a:t>
            </a:r>
            <a:r>
              <a:rPr lang="fr-FR" dirty="0">
                <a:latin typeface="Montserrat Light" pitchFamily="2" charset="77"/>
              </a:rPr>
              <a:t>clients ont été identifiés via cette méthode</a:t>
            </a:r>
          </a:p>
        </p:txBody>
      </p:sp>
      <p:pic>
        <p:nvPicPr>
          <p:cNvPr id="4" name="Image 3" descr="Une image contenant texte, capture d’écran, logiciel, conception&#10;&#10;Description générée automatiquement">
            <a:extLst>
              <a:ext uri="{FF2B5EF4-FFF2-40B4-BE49-F238E27FC236}">
                <a16:creationId xmlns:a16="http://schemas.microsoft.com/office/drawing/2014/main" id="{0498975D-D6E2-4240-12A1-E12D93AE5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30" y="1905652"/>
            <a:ext cx="4594245" cy="303539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9D38FBC-3A4B-DD05-DD1C-178C42A61433}"/>
              </a:ext>
            </a:extLst>
          </p:cNvPr>
          <p:cNvSpPr txBox="1"/>
          <p:nvPr/>
        </p:nvSpPr>
        <p:spPr>
          <a:xfrm>
            <a:off x="6346480" y="3091539"/>
            <a:ext cx="230863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fr-FR" sz="1300" b="1" dirty="0">
                <a:latin typeface="Montserrat Light" pitchFamily="2" charset="77"/>
              </a:rPr>
              <a:t>6</a:t>
            </a:r>
            <a:r>
              <a:rPr lang="fr-FR" sz="1300" dirty="0">
                <a:latin typeface="Montserrat Light" pitchFamily="2" charset="77"/>
              </a:rPr>
              <a:t> clients ont été identifiés parmi les clients actuels comme étant détenteurs d’une carte </a:t>
            </a:r>
            <a:r>
              <a:rPr lang="fr-FR" sz="1300" dirty="0" err="1">
                <a:latin typeface="Montserrat Light" pitchFamily="2" charset="77"/>
              </a:rPr>
              <a:t>platinium</a:t>
            </a:r>
            <a:endParaRPr lang="fr-FR" sz="1300" dirty="0">
              <a:latin typeface="Montserra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62161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-FR" dirty="0"/>
              <a:t>Recommandations</a:t>
            </a:r>
            <a:br>
              <a:rPr lang="fr-FR" dirty="0"/>
            </a:br>
            <a:endParaRPr b="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A248E36-176C-02E9-02C1-54687E5E751C}"/>
              </a:ext>
            </a:extLst>
          </p:cNvPr>
          <p:cNvSpPr txBox="1"/>
          <p:nvPr/>
        </p:nvSpPr>
        <p:spPr>
          <a:xfrm>
            <a:off x="1303800" y="2479415"/>
            <a:ext cx="53294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Montserrat Light" pitchFamily="2" charset="77"/>
              </a:rPr>
              <a:t>- Améliorer la qualité de service</a:t>
            </a:r>
          </a:p>
          <a:p>
            <a:endParaRPr lang="fr-FR" dirty="0">
              <a:latin typeface="Montserrat Light" pitchFamily="2" charset="77"/>
            </a:endParaRPr>
          </a:p>
          <a:p>
            <a:r>
              <a:rPr lang="fr-FR" dirty="0">
                <a:latin typeface="Montserrat Light" pitchFamily="2" charset="77"/>
              </a:rPr>
              <a:t>- Etoffer et restructurer l’offre pour éviter les départs après l’obtention d’un prêt</a:t>
            </a:r>
          </a:p>
          <a:p>
            <a:endParaRPr lang="fr-FR" dirty="0">
              <a:latin typeface="Montserrat Light" pitchFamily="2" charset="77"/>
            </a:endParaRPr>
          </a:p>
          <a:p>
            <a:r>
              <a:rPr lang="fr-FR" dirty="0">
                <a:latin typeface="Montserrat Light" pitchFamily="2" charset="77"/>
              </a:rPr>
              <a:t>- Améliorer l’offre et la qualité de service pour la carte Platinium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F31CCC-400D-815B-36DF-74D76FF71585}"/>
              </a:ext>
            </a:extLst>
          </p:cNvPr>
          <p:cNvSpPr txBox="1"/>
          <p:nvPr/>
        </p:nvSpPr>
        <p:spPr>
          <a:xfrm>
            <a:off x="1005608" y="1777035"/>
            <a:ext cx="5329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 Light" pitchFamily="2" charset="77"/>
              </a:rPr>
              <a:t>Afin de limiter les départs, voici quelques pistes à explorer 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"/>
          <p:cNvSpPr txBox="1"/>
          <p:nvPr/>
        </p:nvSpPr>
        <p:spPr>
          <a:xfrm>
            <a:off x="778800" y="1925025"/>
            <a:ext cx="569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fr-FR" sz="20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 sz="20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930100" y="2723025"/>
            <a:ext cx="644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9516</TotalTime>
  <Words>339</Words>
  <Application>Microsoft Macintosh PowerPoint</Application>
  <PresentationFormat>Affichage à l'écran (16:9)</PresentationFormat>
  <Paragraphs>43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Arial</vt:lpstr>
      <vt:lpstr>Titillium Web</vt:lpstr>
      <vt:lpstr>Montserrat Light</vt:lpstr>
      <vt:lpstr>Nunito</vt:lpstr>
      <vt:lpstr>Wingdings</vt:lpstr>
      <vt:lpstr>Maven Pro</vt:lpstr>
      <vt:lpstr>Momentum</vt:lpstr>
      <vt:lpstr>Présentation PowerPoint</vt:lpstr>
      <vt:lpstr>Les enjeux de Primero Bank  </vt:lpstr>
      <vt:lpstr>Nos objectifs</vt:lpstr>
      <vt:lpstr>Influence du type de carte sur le statut du client  </vt:lpstr>
      <vt:lpstr>Le montant de crédit renouvelé chez les clients actuels et perdus est un indicateur de fidélité </vt:lpstr>
      <vt:lpstr>La tranche de revenu semble être un facteur de départ </vt:lpstr>
      <vt:lpstr>Le statut marital des clients est un facteur majeur de départ  </vt:lpstr>
      <vt:lpstr>L’utilisation moyenne de la carte est plus faible chez les clients qui partent  </vt:lpstr>
      <vt:lpstr>Beaucoup d’intéraction avec la banque est mauvais signe  </vt:lpstr>
      <vt:lpstr>Trois hypothèses ressortent sur la raison des départs </vt:lpstr>
      <vt:lpstr>Calcul des clients à risques Méthodologie pour l’hypothèse numéro 1 et 2 </vt:lpstr>
      <vt:lpstr>Calcul des clients à risques Résultats </vt:lpstr>
      <vt:lpstr>Recommandations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JeYjEy</dc:creator>
  <cp:lastModifiedBy>Samuel OSENAT</cp:lastModifiedBy>
  <cp:revision>6</cp:revision>
  <dcterms:modified xsi:type="dcterms:W3CDTF">2024-10-08T22:53:10Z</dcterms:modified>
</cp:coreProperties>
</file>